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3A86FF">
                <a:alpha val="90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Argent public</c:v>
                </c:pt>
                <c:pt idx="1">
                  <c:v>Clivage politique</c:v>
                </c:pt>
                <c:pt idx="2">
                  <c:v>Censure / liberté</c:v>
                </c:pt>
                <c:pt idx="3">
                  <c:v>Anti-France</c:v>
                </c:pt>
                <c:pt idx="4">
                  <c:v>Élites / filiations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19620</c:v>
                </c:pt>
                <c:pt idx="1">
                  <c:v>16158</c:v>
                </c:pt>
                <c:pt idx="2">
                  <c:v>8673</c:v>
                </c:pt>
                <c:pt idx="3">
                  <c:v>5883</c:v>
                </c:pt>
                <c:pt idx="4">
                  <c:v>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9B-427F-BA20-050004C34B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0490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Crise réelle de 6 semaines autour du financement CNC. Objectif phase 1 : comprendre la mécanique virale pour calibrer ensuite les agents de veille/riposte.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Grille des 5 axes. Insister sur deux faits : viralité par retweet (85,8 %) et domination de l'angle 'argent public' sur l'angle identitaire.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courbe horaire montre le pic du 26/03. Le temps de doublement (~49 h) et le délai début→pic (~161 h) sont les métriques à transformer en seuils d'alerte.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chiffres clés + la hiérarchie des narratifs. Point-clé : 'argent public' domine très largement — c'est l'angle que la riposte CNC doit traiter en priorité.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orientée action : 5 implications directes pour la riposte CNC, et passerelle vers la phase 2 (agents 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F7CF-7C82-C1AA-B093-4F65D60E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BA999-BBC4-24B3-29CC-C5AB34E87D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92BFB-8951-6DD4-6E4A-7CDD7C986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orientée action : 5 implications directes pour la riposte CNC, et passerelle vers la phase 2 (agents IA).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604A1-DA0D-E626-6D93-2699459FDE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4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393B-E218-1574-EA5C-90BE3A24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9B929-BFCA-C2A5-A602-D77E1A83D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8CDF5-0D80-5E05-1A62-E359D6CE1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orientée action : 5 implications directes pour la riposte CNC, et passerelle vers la phase 2 (agents IA).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FC4F6-6ABC-BB41-4755-3B6A686B0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1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CRISE  ·  VEILLE X / TWITTER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Polémique CNC : anatomie d'une vague virale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lancé ou amplifié ?  Comment ?  Pourquoi ça a pris ?  </a:t>
            </a:r>
            <a:r>
              <a:rPr lang="en-US" sz="1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quand et à quelle vitesse 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35 396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analysés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77,8 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2900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reach cumulé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jours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21792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mars → 1ᵉʳ mai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06840" y="4023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10 437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006840" y="4663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 uniques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Analyse descriptive du corpus  |  Préparation des agents IA de veille et de riposte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grille de lecture : 5 axes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axe est répondu par les données, pas par hypothèse.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896112" y="1837944"/>
            <a:ext cx="310896" cy="310896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96112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16736" y="181965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16736" y="21305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 &amp; amplifie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96112" y="2496312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Primo-diffuseurs : LeDindonFiscal (654 RT), Crohnfighter (623), GuilhemCarayon (420). Amplificateurs : SirAfuera (1852 reprises), ojim_france (1254). Le CNC lui-même très repris (509).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25696" y="1600200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81728" y="1837944"/>
            <a:ext cx="310896" cy="310896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681728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02352" y="181965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?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02352" y="21305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 de diffusion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496312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85,8 % de retweets, 1,9 % de contenu original : une viralité de reprise. Peu de sources, énorme caisse de résonance.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11312" y="1600200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467344" y="1837944"/>
            <a:ext cx="310896" cy="310896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467344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87968" y="181965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887968" y="21305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fédère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67344" y="2496312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Narratif dominant « argent public » (19 620 posts), devant le clivage politique (16 158) et l'« anti-France » (5 883). L'angle budgétaire prime.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73452" y="3858768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2729484" y="4096512"/>
            <a:ext cx="310896" cy="310896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29484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150108" y="407822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DEPUIS QUAND ?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150108" y="43891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de départ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29484" y="4754880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le 19/03. Montée en charge sur ~1 semaine, pic le 26/03 à 16h (751 posts/h).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59068" y="3858768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515100" y="4096512"/>
            <a:ext cx="310896" cy="310896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51510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35724" y="407822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QUELLE VITESSE ?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35724" y="43891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15100" y="4754880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161 h entre le début et le pic, temps de doublement ≈ 49 h, ~805 posts/jour en moyenne.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Depuis quand, à quelle vitesse</a:t>
            </a:r>
            <a:endParaRPr lang="en-US" sz="3200" dirty="0"/>
          </a:p>
        </p:txBody>
      </p:sp>
      <p:pic>
        <p:nvPicPr>
          <p:cNvPr id="3" name="Image 0" descr="viz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863840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32520" y="155448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8915400" y="1664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mars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915400" y="2084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signal du corpus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732520" y="269748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8915400" y="2807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mars · 16h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915400" y="3227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à 751 posts / heure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732520" y="384048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8915400" y="39502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49 h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915400" y="4370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doublement du volume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typique d'un emballement : montée rapide sur ~1 semaine, pic court et intense, puis longue traîne de reprises. C'est cette signature qui calibrera les seuils d'alerte des agents.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chiffres clés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68680" y="14813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85,8 %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86968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retweets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viralité portée par la reprise, non par la création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0" y="14813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77,8 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90288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reach cumulé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0288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potentielle touchée (estimation)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75320" y="148132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30,7 %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293608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sentiment négatif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93608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polémique à charge mais pas une déferlante de haine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a pris — angles narratifs (nb de posts)</a:t>
            </a:r>
            <a:endParaRPr lang="en-US" sz="14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" y="3840480"/>
          <a:ext cx="111556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Acteurs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amplificateurs (reprises)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SirAfuera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06240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1 852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042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LeDindonFiscal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23042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1 544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7977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ojim_france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77977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1 254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2552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jon_delorraine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0" y="3255264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1 083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730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anatolium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37307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1 065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→ automatiser cette lecture en continu avec les agents IA (veille, analyse, fact-check, recommandation de riposte).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62633-565C-C728-D30C-732249309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F6184AB3-92E9-FE82-A510-2C6341B4CFAA}"/>
              </a:ext>
            </a:extLst>
          </p:cNvPr>
          <p:cNvSpPr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FEUILLE DE ROUTE</a:t>
            </a:r>
            <a:endParaRPr lang="en-US" sz="14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AF509511-9CB7-8424-0EAB-14351BA0ED6E}"/>
              </a:ext>
            </a:extLst>
          </p:cNvPr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en place les agents IA</a:t>
            </a:r>
            <a:endParaRPr lang="en-US" sz="46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EF6E5E4-6C02-82BC-A3EC-C0E3F5109E2A}"/>
              </a:ext>
            </a:extLst>
          </p:cNvPr>
          <p:cNvSpPr/>
          <p:nvPr/>
        </p:nvSpPr>
        <p:spPr>
          <a:xfrm>
            <a:off x="64008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veille en continu à la riposte vérifiée — une chaîne d'agents supervisée par l'humain.</a:t>
            </a:r>
            <a:endParaRPr lang="en-US" sz="18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D3C58980-BB7F-E9DF-309F-8DC12467B9C2}"/>
              </a:ext>
            </a:extLst>
          </p:cNvPr>
          <p:cNvSpPr/>
          <p:nvPr/>
        </p:nvSpPr>
        <p:spPr>
          <a:xfrm>
            <a:off x="640080" y="3931920"/>
            <a:ext cx="1627632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AB277E6-7B3E-E43E-042B-02CD201D5CE7}"/>
              </a:ext>
            </a:extLst>
          </p:cNvPr>
          <p:cNvSpPr/>
          <p:nvPr/>
        </p:nvSpPr>
        <p:spPr>
          <a:xfrm>
            <a:off x="640080" y="393192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24/7</a:t>
            </a:r>
            <a:endParaRPr lang="en-US" sz="13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2C893A26-F226-0FFF-C20E-98F9AA64EDFE}"/>
              </a:ext>
            </a:extLst>
          </p:cNvPr>
          <p:cNvSpPr/>
          <p:nvPr/>
        </p:nvSpPr>
        <p:spPr>
          <a:xfrm>
            <a:off x="2542032" y="3931920"/>
            <a:ext cx="2340864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05C6D4D-8645-F533-042B-40BC1164E6D0}"/>
              </a:ext>
            </a:extLst>
          </p:cNvPr>
          <p:cNvSpPr/>
          <p:nvPr/>
        </p:nvSpPr>
        <p:spPr>
          <a:xfrm>
            <a:off x="2542032" y="393192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précoce</a:t>
            </a:r>
            <a:endParaRPr lang="en-US" sz="1300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4B95CC16-086E-6DFB-6926-6C17DB000DBA}"/>
              </a:ext>
            </a:extLst>
          </p:cNvPr>
          <p:cNvSpPr/>
          <p:nvPr/>
        </p:nvSpPr>
        <p:spPr>
          <a:xfrm>
            <a:off x="5157216" y="3931920"/>
            <a:ext cx="2340864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1A705C07-E145-00F8-4D60-DC254A562923}"/>
              </a:ext>
            </a:extLst>
          </p:cNvPr>
          <p:cNvSpPr/>
          <p:nvPr/>
        </p:nvSpPr>
        <p:spPr>
          <a:xfrm>
            <a:off x="5157216" y="3931920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sourcé</a:t>
            </a:r>
            <a:endParaRPr lang="en-US" sz="13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D72CFF9B-82EA-6ADE-B818-F7014C7432F4}"/>
              </a:ext>
            </a:extLst>
          </p:cNvPr>
          <p:cNvSpPr/>
          <p:nvPr/>
        </p:nvSpPr>
        <p:spPr>
          <a:xfrm>
            <a:off x="7772400" y="3931920"/>
            <a:ext cx="2103120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7F87C15B-6FCC-68E3-FF6E-D5E3F79499CD}"/>
              </a:ext>
            </a:extLst>
          </p:cNvPr>
          <p:cNvSpPr/>
          <p:nvPr/>
        </p:nvSpPr>
        <p:spPr>
          <a:xfrm>
            <a:off x="7772400" y="3931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Riposte validée</a:t>
            </a:r>
            <a:endParaRPr lang="en-US" sz="13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7922F46A-3C86-5524-6B5F-8AD518A0EAB2}"/>
              </a:ext>
            </a:extLst>
          </p:cNvPr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: l'analyse descriptive de la crise réelle (phase 1) calibre les seuils des agents.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2742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95BA74D-6030-88FE-9257-40AB72E19B31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L'architecture : une chaîne de 6 agents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119CA4-28CE-FC66-3A3C-F48E34023411}"/>
              </a:ext>
            </a:extLst>
          </p:cNvPr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post traverse la chaîne en quelques secondes ; rien n'est publié sans validation humaine.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173E117-45DE-C0F5-9D7D-D876CC5ADEA9}"/>
              </a:ext>
            </a:extLst>
          </p:cNvPr>
          <p:cNvSpPr/>
          <p:nvPr/>
        </p:nvSpPr>
        <p:spPr>
          <a:xfrm>
            <a:off x="1362456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C834C8C-2E96-8280-1DF5-3BC1272CD2F3}"/>
              </a:ext>
            </a:extLst>
          </p:cNvPr>
          <p:cNvSpPr/>
          <p:nvPr/>
        </p:nvSpPr>
        <p:spPr>
          <a:xfrm>
            <a:off x="2007108" y="1947672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A806F65-9122-C48A-73D5-FCC891736E5A}"/>
              </a:ext>
            </a:extLst>
          </p:cNvPr>
          <p:cNvSpPr/>
          <p:nvPr/>
        </p:nvSpPr>
        <p:spPr>
          <a:xfrm>
            <a:off x="2007108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FD815B-98F6-016B-CFFC-4247A3B74788}"/>
              </a:ext>
            </a:extLst>
          </p:cNvPr>
          <p:cNvSpPr/>
          <p:nvPr/>
        </p:nvSpPr>
        <p:spPr>
          <a:xfrm>
            <a:off x="1453896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8295DFC-FD31-7FD3-04AF-B807DA423A33}"/>
              </a:ext>
            </a:extLst>
          </p:cNvPr>
          <p:cNvSpPr/>
          <p:nvPr/>
        </p:nvSpPr>
        <p:spPr>
          <a:xfrm>
            <a:off x="1472184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du flux X / outil de listening, en streaming.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9E1C7C-88EA-2C84-68FD-1EA7AA221DDA}"/>
              </a:ext>
            </a:extLst>
          </p:cNvPr>
          <p:cNvSpPr/>
          <p:nvPr/>
        </p:nvSpPr>
        <p:spPr>
          <a:xfrm>
            <a:off x="2999232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4B4AEFC-B56C-9D6A-F1FF-4A22DFFECBD4}"/>
              </a:ext>
            </a:extLst>
          </p:cNvPr>
          <p:cNvSpPr/>
          <p:nvPr/>
        </p:nvSpPr>
        <p:spPr>
          <a:xfrm>
            <a:off x="3227832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2F64884-38E8-6C22-1324-574546CB8E1B}"/>
              </a:ext>
            </a:extLst>
          </p:cNvPr>
          <p:cNvSpPr/>
          <p:nvPr/>
        </p:nvSpPr>
        <p:spPr>
          <a:xfrm>
            <a:off x="3872484" y="1947672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BCD589F-67FF-BB94-3820-C97858845A55}"/>
              </a:ext>
            </a:extLst>
          </p:cNvPr>
          <p:cNvSpPr/>
          <p:nvPr/>
        </p:nvSpPr>
        <p:spPr>
          <a:xfrm>
            <a:off x="3872484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9FA5C5D-2081-F923-F055-5890F2CBBA83}"/>
              </a:ext>
            </a:extLst>
          </p:cNvPr>
          <p:cNvSpPr/>
          <p:nvPr/>
        </p:nvSpPr>
        <p:spPr>
          <a:xfrm>
            <a:off x="3319272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Normalisation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C39EF4F-4990-B556-75D8-923E80557662}"/>
              </a:ext>
            </a:extLst>
          </p:cNvPr>
          <p:cNvSpPr/>
          <p:nvPr/>
        </p:nvSpPr>
        <p:spPr>
          <a:xfrm>
            <a:off x="3337560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standardisation à la volée.</a:t>
            </a:r>
            <a:endParaRPr lang="en-US" sz="9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A89DB7-12FF-2B1A-BEF1-B3346AFD6BFC}"/>
              </a:ext>
            </a:extLst>
          </p:cNvPr>
          <p:cNvSpPr/>
          <p:nvPr/>
        </p:nvSpPr>
        <p:spPr>
          <a:xfrm>
            <a:off x="4864608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0AF1BBA-B0F9-64C0-6AB6-32D9ABB65FB8}"/>
              </a:ext>
            </a:extLst>
          </p:cNvPr>
          <p:cNvSpPr/>
          <p:nvPr/>
        </p:nvSpPr>
        <p:spPr>
          <a:xfrm>
            <a:off x="5093208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A27EBA9-7FE8-E13F-8AAC-7A8E897C743D}"/>
              </a:ext>
            </a:extLst>
          </p:cNvPr>
          <p:cNvSpPr/>
          <p:nvPr/>
        </p:nvSpPr>
        <p:spPr>
          <a:xfrm>
            <a:off x="5737860" y="1947672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2405B7E-20D6-CA27-EB0D-99A83B324F45}"/>
              </a:ext>
            </a:extLst>
          </p:cNvPr>
          <p:cNvSpPr/>
          <p:nvPr/>
        </p:nvSpPr>
        <p:spPr>
          <a:xfrm>
            <a:off x="573786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FF61D72-CD3E-366A-476C-F42E2D507869}"/>
              </a:ext>
            </a:extLst>
          </p:cNvPr>
          <p:cNvSpPr/>
          <p:nvPr/>
        </p:nvSpPr>
        <p:spPr>
          <a:xfrm>
            <a:off x="5184648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Veille &amp; détection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E209300-221E-F5A8-8E2B-B7F00B237130}"/>
              </a:ext>
            </a:extLst>
          </p:cNvPr>
          <p:cNvSpPr/>
          <p:nvPr/>
        </p:nvSpPr>
        <p:spPr>
          <a:xfrm>
            <a:off x="5202936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calibrés sur la phase 1 → alerte graduée.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28589BE-D5EA-30D5-E7AF-42A47C49BD3C}"/>
              </a:ext>
            </a:extLst>
          </p:cNvPr>
          <p:cNvSpPr/>
          <p:nvPr/>
        </p:nvSpPr>
        <p:spPr>
          <a:xfrm>
            <a:off x="6729984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6996255-C411-BE3C-8E5B-70343E7D64D8}"/>
              </a:ext>
            </a:extLst>
          </p:cNvPr>
          <p:cNvSpPr/>
          <p:nvPr/>
        </p:nvSpPr>
        <p:spPr>
          <a:xfrm>
            <a:off x="6958584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0B66589-0EED-D56F-32C7-FA620F232BC0}"/>
              </a:ext>
            </a:extLst>
          </p:cNvPr>
          <p:cNvSpPr/>
          <p:nvPr/>
        </p:nvSpPr>
        <p:spPr>
          <a:xfrm>
            <a:off x="7603236" y="1947672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9FBF9B7-5125-9501-2AD4-240B98C8E45F}"/>
              </a:ext>
            </a:extLst>
          </p:cNvPr>
          <p:cNvSpPr/>
          <p:nvPr/>
        </p:nvSpPr>
        <p:spPr>
          <a:xfrm>
            <a:off x="7603236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005BC98-B59A-058B-08D8-AAA33D9C0492}"/>
              </a:ext>
            </a:extLst>
          </p:cNvPr>
          <p:cNvSpPr/>
          <p:nvPr/>
        </p:nvSpPr>
        <p:spPr>
          <a:xfrm>
            <a:off x="7050024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0F3F3BC-889B-CB03-E0AC-07B78F729BD9}"/>
              </a:ext>
            </a:extLst>
          </p:cNvPr>
          <p:cNvSpPr/>
          <p:nvPr/>
        </p:nvSpPr>
        <p:spPr>
          <a:xfrm>
            <a:off x="7068312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amplifie, narratif, sentiment, score de bot.</a:t>
            </a:r>
            <a:endParaRPr lang="en-US" sz="9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C6C693E-132F-6B54-EF05-15EE6F148C74}"/>
              </a:ext>
            </a:extLst>
          </p:cNvPr>
          <p:cNvSpPr/>
          <p:nvPr/>
        </p:nvSpPr>
        <p:spPr>
          <a:xfrm>
            <a:off x="8595360" y="240030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2D7FB92-68D8-12D5-DA61-26C5647CACA1}"/>
              </a:ext>
            </a:extLst>
          </p:cNvPr>
          <p:cNvSpPr/>
          <p:nvPr/>
        </p:nvSpPr>
        <p:spPr>
          <a:xfrm>
            <a:off x="9468612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CC9B0B5-6308-E357-4FE4-F2DF413845B5}"/>
              </a:ext>
            </a:extLst>
          </p:cNvPr>
          <p:cNvSpPr/>
          <p:nvPr/>
        </p:nvSpPr>
        <p:spPr>
          <a:xfrm>
            <a:off x="8851392" y="1783080"/>
            <a:ext cx="1673352" cy="1783080"/>
          </a:xfrm>
          <a:prstGeom prst="roundRect">
            <a:avLst>
              <a:gd name="adj" fmla="val 4372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C7CB5D7-F5CD-3A04-E0B0-8C47E369CA2F}"/>
              </a:ext>
            </a:extLst>
          </p:cNvPr>
          <p:cNvSpPr/>
          <p:nvPr/>
        </p:nvSpPr>
        <p:spPr>
          <a:xfrm>
            <a:off x="9496044" y="1947672"/>
            <a:ext cx="384048" cy="384048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33B8E58-3528-3B74-A1E1-CC7573F130A4}"/>
              </a:ext>
            </a:extLst>
          </p:cNvPr>
          <p:cNvSpPr/>
          <p:nvPr/>
        </p:nvSpPr>
        <p:spPr>
          <a:xfrm>
            <a:off x="9496044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72B2161B-DD5A-5946-3FBF-8187738779B6}"/>
              </a:ext>
            </a:extLst>
          </p:cNvPr>
          <p:cNvSpPr/>
          <p:nvPr/>
        </p:nvSpPr>
        <p:spPr>
          <a:xfrm>
            <a:off x="8942832" y="2404872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Riposte</a:t>
            </a:r>
            <a:endParaRPr lang="en-US" sz="14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5208FE41-0C7C-9623-F977-D04329555801}"/>
              </a:ext>
            </a:extLst>
          </p:cNvPr>
          <p:cNvSpPr/>
          <p:nvPr/>
        </p:nvSpPr>
        <p:spPr>
          <a:xfrm>
            <a:off x="8961120" y="2807208"/>
            <a:ext cx="1453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Brouillons de réponse argumentés et sourcés.</a:t>
            </a:r>
            <a:endParaRPr lang="en-US" sz="9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F513B58-2A5C-94AD-0F63-5C14362A4E88}"/>
              </a:ext>
            </a:extLst>
          </p:cNvPr>
          <p:cNvSpPr/>
          <p:nvPr/>
        </p:nvSpPr>
        <p:spPr>
          <a:xfrm>
            <a:off x="566928" y="39776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BAA4DC8-D211-8805-EBDF-9F1F57D89B9C}"/>
              </a:ext>
            </a:extLst>
          </p:cNvPr>
          <p:cNvSpPr/>
          <p:nvPr/>
        </p:nvSpPr>
        <p:spPr>
          <a:xfrm>
            <a:off x="822960" y="3977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humaine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 responsable du CNC valide, ajuste ou rejette toute riposte avant publication.</a:t>
            </a:r>
            <a:endParaRPr lang="en-US" sz="14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0078EAC-E6C4-3ABE-F9DF-BB49D2DFEA1F}"/>
              </a:ext>
            </a:extLst>
          </p:cNvPr>
          <p:cNvSpPr/>
          <p:nvPr/>
        </p:nvSpPr>
        <p:spPr>
          <a:xfrm>
            <a:off x="566928" y="49834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16B890A3-B72F-5DD1-145C-F9C5C21D82B0}"/>
              </a:ext>
            </a:extLst>
          </p:cNvPr>
          <p:cNvSpPr/>
          <p:nvPr/>
        </p:nvSpPr>
        <p:spPr>
          <a:xfrm>
            <a:off x="822960" y="49834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Boucle de feedback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l'effet de chaque riposte affine les seuils d'alerte et la watchlist. Le système s'améliore à chaque crise.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5765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66317-BBE4-BEFD-945B-B7577EE82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0D1E85-3589-ADF9-B7ED-279C404FABD4}"/>
              </a:ext>
            </a:extLst>
          </p:cNvPr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AEB287-C47F-C571-3482-445CC0693D0A}"/>
              </a:ext>
            </a:extLst>
          </p:cNvPr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prototype mesurable à l'automatisation supervisée.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9F40A6C-70A4-CC23-2A79-140917B5D08B}"/>
              </a:ext>
            </a:extLst>
          </p:cNvPr>
          <p:cNvSpPr/>
          <p:nvPr/>
        </p:nvSpPr>
        <p:spPr>
          <a:xfrm>
            <a:off x="640080" y="19202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C9B16C2-2D5A-0245-EC87-70F2517AAED2}"/>
              </a:ext>
            </a:extLst>
          </p:cNvPr>
          <p:cNvSpPr/>
          <p:nvPr/>
        </p:nvSpPr>
        <p:spPr>
          <a:xfrm>
            <a:off x="896112" y="21762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1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10C397-B47F-DF07-C9A1-84E7FDF9FBBD}"/>
              </a:ext>
            </a:extLst>
          </p:cNvPr>
          <p:cNvSpPr/>
          <p:nvPr/>
        </p:nvSpPr>
        <p:spPr>
          <a:xfrm>
            <a:off x="896112" y="2606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 &amp; socle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F7D9CDC-3BD0-F65E-0E05-6A9A4F27C011}"/>
              </a:ext>
            </a:extLst>
          </p:cNvPr>
          <p:cNvSpPr/>
          <p:nvPr/>
        </p:nvSpPr>
        <p:spPr>
          <a:xfrm>
            <a:off x="896112" y="347472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C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le flux X / listening, rejouer le pipeline phase 1 en continu.</a:t>
            </a:r>
            <a:endParaRPr lang="en-US" sz="1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F501D6-F076-3DCB-E60F-3CB97200214B}"/>
              </a:ext>
            </a:extLst>
          </p:cNvPr>
          <p:cNvSpPr/>
          <p:nvPr/>
        </p:nvSpPr>
        <p:spPr>
          <a:xfrm>
            <a:off x="3291840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520ADC4-AE83-0366-E149-2F2F6F5D46C5}"/>
              </a:ext>
            </a:extLst>
          </p:cNvPr>
          <p:cNvSpPr/>
          <p:nvPr/>
        </p:nvSpPr>
        <p:spPr>
          <a:xfrm>
            <a:off x="3557016" y="19202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EC6434-0B71-6696-5297-AE31CF651979}"/>
              </a:ext>
            </a:extLst>
          </p:cNvPr>
          <p:cNvSpPr/>
          <p:nvPr/>
        </p:nvSpPr>
        <p:spPr>
          <a:xfrm>
            <a:off x="3813048" y="21762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2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ECF6126-4FD0-4370-4C1B-6620092D2EEA}"/>
              </a:ext>
            </a:extLst>
          </p:cNvPr>
          <p:cNvSpPr/>
          <p:nvPr/>
        </p:nvSpPr>
        <p:spPr>
          <a:xfrm>
            <a:off x="3813048" y="2606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</a:t>
            </a:r>
            <a:endParaRPr lang="en-US" sz="1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618677E-9B3C-00A3-98D8-C91B8A60B578}"/>
              </a:ext>
            </a:extLst>
          </p:cNvPr>
          <p:cNvSpPr/>
          <p:nvPr/>
        </p:nvSpPr>
        <p:spPr>
          <a:xfrm>
            <a:off x="3813048" y="347472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C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les seuils d'alerte + tableau de bord de veille.</a:t>
            </a:r>
            <a:endParaRPr lang="en-US" sz="12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14D4E66-278E-78EC-D9AF-8955DCC200DC}"/>
              </a:ext>
            </a:extLst>
          </p:cNvPr>
          <p:cNvSpPr/>
          <p:nvPr/>
        </p:nvSpPr>
        <p:spPr>
          <a:xfrm>
            <a:off x="6208776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4E863D-CB6A-5BE7-84AB-913BFD6D2697}"/>
              </a:ext>
            </a:extLst>
          </p:cNvPr>
          <p:cNvSpPr/>
          <p:nvPr/>
        </p:nvSpPr>
        <p:spPr>
          <a:xfrm>
            <a:off x="6473952" y="19202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2D58E6-B503-5FC1-63C3-2C913651867E}"/>
              </a:ext>
            </a:extLst>
          </p:cNvPr>
          <p:cNvSpPr/>
          <p:nvPr/>
        </p:nvSpPr>
        <p:spPr>
          <a:xfrm>
            <a:off x="6729984" y="21762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3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9A66AC1-36C4-4295-986B-74EF07923FAE}"/>
              </a:ext>
            </a:extLst>
          </p:cNvPr>
          <p:cNvSpPr/>
          <p:nvPr/>
        </p:nvSpPr>
        <p:spPr>
          <a:xfrm>
            <a:off x="6729984" y="2606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fact-check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DEC8E7-E0DB-78CB-45E6-888EFB265507}"/>
              </a:ext>
            </a:extLst>
          </p:cNvPr>
          <p:cNvSpPr/>
          <p:nvPr/>
        </p:nvSpPr>
        <p:spPr>
          <a:xfrm>
            <a:off x="6729984" y="347472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C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Classifieurs en direct + vérification sourcée des affirmations.</a:t>
            </a:r>
            <a:endParaRPr lang="en-US" sz="12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A2568A6-2688-26FB-E102-1F250FBA4526}"/>
              </a:ext>
            </a:extLst>
          </p:cNvPr>
          <p:cNvSpPr/>
          <p:nvPr/>
        </p:nvSpPr>
        <p:spPr>
          <a:xfrm>
            <a:off x="9125712" y="32918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16DFF81-5DD8-4525-EEBE-940CD4741C21}"/>
              </a:ext>
            </a:extLst>
          </p:cNvPr>
          <p:cNvSpPr/>
          <p:nvPr/>
        </p:nvSpPr>
        <p:spPr>
          <a:xfrm>
            <a:off x="9390888" y="1920240"/>
            <a:ext cx="2670048" cy="3291840"/>
          </a:xfrm>
          <a:prstGeom prst="roundRect">
            <a:avLst>
              <a:gd name="adj" fmla="val 2740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2E0E416-C398-EDA6-393F-9C2ABDD25E65}"/>
              </a:ext>
            </a:extLst>
          </p:cNvPr>
          <p:cNvSpPr/>
          <p:nvPr/>
        </p:nvSpPr>
        <p:spPr>
          <a:xfrm>
            <a:off x="9646920" y="217627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 4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4388EEB-0395-729F-D434-0328082E9CC9}"/>
              </a:ext>
            </a:extLst>
          </p:cNvPr>
          <p:cNvSpPr/>
          <p:nvPr/>
        </p:nvSpPr>
        <p:spPr>
          <a:xfrm>
            <a:off x="9646920" y="2606040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Riposte supervisée</a:t>
            </a:r>
            <a:endParaRPr lang="en-US" sz="1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3817738-C4A3-58AB-E747-5E940DA1333D}"/>
              </a:ext>
            </a:extLst>
          </p:cNvPr>
          <p:cNvSpPr/>
          <p:nvPr/>
        </p:nvSpPr>
        <p:spPr>
          <a:xfrm>
            <a:off x="9646920" y="3474720"/>
            <a:ext cx="22128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CD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Brouillons assistés, validation humaine, boucle de feedback.</a:t>
            </a:r>
            <a:endParaRPr lang="en-US" sz="12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1EF938D-6B7F-71A4-1F33-4E40A3AEA9F1}"/>
              </a:ext>
            </a:extLst>
          </p:cNvPr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jalon, un livrable mesurable — pas de « grand soir » technologique.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743443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>
            <a:extLst>
              <a:ext uri="{FF2B5EF4-FFF2-40B4-BE49-F238E27FC236}">
                <a16:creationId xmlns:a16="http://schemas.microsoft.com/office/drawing/2014/main" id="{41415839-E56D-9102-C4FB-6D55352E0A52}"/>
              </a:ext>
            </a:extLst>
          </p:cNvPr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temps réel : du signal à la riposte</a:t>
            </a:r>
            <a:endParaRPr lang="en-US" sz="3000" dirty="0"/>
          </a:p>
        </p:txBody>
      </p:sp>
      <p:sp>
        <p:nvSpPr>
          <p:cNvPr id="76" name="Text 1">
            <a:extLst>
              <a:ext uri="{FF2B5EF4-FFF2-40B4-BE49-F238E27FC236}">
                <a16:creationId xmlns:a16="http://schemas.microsoft.com/office/drawing/2014/main" id="{C92D5F13-0134-DBC3-C6C7-3E59B945D70C}"/>
              </a:ext>
            </a:extLst>
          </p:cNvPr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épisode, traité par la chaîne en minutes plutôt qu'analysé après coup.</a:t>
            </a:r>
            <a:endParaRPr lang="en-US" sz="1400" dirty="0"/>
          </a:p>
        </p:txBody>
      </p:sp>
      <p:sp>
        <p:nvSpPr>
          <p:cNvPr id="77" name="Shape 2">
            <a:extLst>
              <a:ext uri="{FF2B5EF4-FFF2-40B4-BE49-F238E27FC236}">
                <a16:creationId xmlns:a16="http://schemas.microsoft.com/office/drawing/2014/main" id="{7B6A04BA-017D-6B90-7A26-572D4CE27181}"/>
              </a:ext>
            </a:extLst>
          </p:cNvPr>
          <p:cNvSpPr/>
          <p:nvPr/>
        </p:nvSpPr>
        <p:spPr>
          <a:xfrm>
            <a:off x="960120" y="1655064"/>
            <a:ext cx="237744" cy="237744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Shape 3">
            <a:extLst>
              <a:ext uri="{FF2B5EF4-FFF2-40B4-BE49-F238E27FC236}">
                <a16:creationId xmlns:a16="http://schemas.microsoft.com/office/drawing/2014/main" id="{47718D60-4267-935F-4F40-7CD7AA61A6A7}"/>
              </a:ext>
            </a:extLst>
          </p:cNvPr>
          <p:cNvSpPr/>
          <p:nvPr/>
        </p:nvSpPr>
        <p:spPr>
          <a:xfrm>
            <a:off x="1078992" y="1892808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4">
            <a:extLst>
              <a:ext uri="{FF2B5EF4-FFF2-40B4-BE49-F238E27FC236}">
                <a16:creationId xmlns:a16="http://schemas.microsoft.com/office/drawing/2014/main" id="{0FE64DE9-C97A-B8EA-1F48-309141424E75}"/>
              </a:ext>
            </a:extLst>
          </p:cNvPr>
          <p:cNvSpPr/>
          <p:nvPr/>
        </p:nvSpPr>
        <p:spPr>
          <a:xfrm>
            <a:off x="1371600" y="1600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14:02</a:t>
            </a:r>
            <a:endParaRPr lang="en-US" sz="1600" dirty="0"/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2446011E-2ECD-77EE-BB23-8BE404BAA7FE}"/>
              </a:ext>
            </a:extLst>
          </p:cNvPr>
          <p:cNvSpPr/>
          <p:nvPr/>
        </p:nvSpPr>
        <p:spPr>
          <a:xfrm>
            <a:off x="2697480" y="15819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compte publie « le CNC finance un clip anti-France ».</a:t>
            </a:r>
            <a:endParaRPr lang="en-US" sz="1350" dirty="0"/>
          </a:p>
        </p:txBody>
      </p:sp>
      <p:sp>
        <p:nvSpPr>
          <p:cNvPr id="81" name="Text 6">
            <a:extLst>
              <a:ext uri="{FF2B5EF4-FFF2-40B4-BE49-F238E27FC236}">
                <a16:creationId xmlns:a16="http://schemas.microsoft.com/office/drawing/2014/main" id="{FA9487A1-4970-C91C-57DF-54EC008487BB}"/>
              </a:ext>
            </a:extLst>
          </p:cNvPr>
          <p:cNvSpPr/>
          <p:nvPr/>
        </p:nvSpPr>
        <p:spPr>
          <a:xfrm>
            <a:off x="7955280" y="15819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Ingéré, normalisé, analysé. Sous le seuil → veille.</a:t>
            </a:r>
            <a:endParaRPr lang="en-US" sz="1200" dirty="0"/>
          </a:p>
        </p:txBody>
      </p:sp>
      <p:sp>
        <p:nvSpPr>
          <p:cNvPr id="82" name="Shape 7">
            <a:extLst>
              <a:ext uri="{FF2B5EF4-FFF2-40B4-BE49-F238E27FC236}">
                <a16:creationId xmlns:a16="http://schemas.microsoft.com/office/drawing/2014/main" id="{16913412-9606-D1A1-5B4C-F5B7D3EFF285}"/>
              </a:ext>
            </a:extLst>
          </p:cNvPr>
          <p:cNvSpPr/>
          <p:nvPr/>
        </p:nvSpPr>
        <p:spPr>
          <a:xfrm>
            <a:off x="960120" y="2404872"/>
            <a:ext cx="237744" cy="237744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F384B656-5630-FCA4-F11B-DE32919959E2}"/>
              </a:ext>
            </a:extLst>
          </p:cNvPr>
          <p:cNvSpPr/>
          <p:nvPr/>
        </p:nvSpPr>
        <p:spPr>
          <a:xfrm>
            <a:off x="1078992" y="2642616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9">
            <a:extLst>
              <a:ext uri="{FF2B5EF4-FFF2-40B4-BE49-F238E27FC236}">
                <a16:creationId xmlns:a16="http://schemas.microsoft.com/office/drawing/2014/main" id="{7B6F870F-806D-41C9-420C-E4CE444B75E3}"/>
              </a:ext>
            </a:extLst>
          </p:cNvPr>
          <p:cNvSpPr/>
          <p:nvPr/>
        </p:nvSpPr>
        <p:spPr>
          <a:xfrm>
            <a:off x="1371600" y="23500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15:10</a:t>
            </a:r>
            <a:endParaRPr lang="en-US" sz="1600" dirty="0"/>
          </a:p>
        </p:txBody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1E104AD1-B279-39DB-69BA-ABC4B37013CB}"/>
              </a:ext>
            </a:extLst>
          </p:cNvPr>
          <p:cNvSpPr/>
          <p:nvPr/>
        </p:nvSpPr>
        <p:spPr>
          <a:xfrm>
            <a:off x="2697480" y="2331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gros comptes le reprennent : +500 RT en 30 min.</a:t>
            </a:r>
            <a:endParaRPr lang="en-US" sz="1350" dirty="0"/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9B8C51EC-B71D-0977-521B-7E71FDFB3267}"/>
              </a:ext>
            </a:extLst>
          </p:cNvPr>
          <p:cNvSpPr/>
          <p:nvPr/>
        </p:nvSpPr>
        <p:spPr>
          <a:xfrm>
            <a:off x="7955280" y="2331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« montée en charge » (niveau orange) au CNC.</a:t>
            </a:r>
            <a:endParaRPr lang="en-US" sz="1200" dirty="0"/>
          </a:p>
        </p:txBody>
      </p:sp>
      <p:sp>
        <p:nvSpPr>
          <p:cNvPr id="87" name="Shape 12">
            <a:extLst>
              <a:ext uri="{FF2B5EF4-FFF2-40B4-BE49-F238E27FC236}">
                <a16:creationId xmlns:a16="http://schemas.microsoft.com/office/drawing/2014/main" id="{D4F242EF-FE86-812F-A351-4F73FC498339}"/>
              </a:ext>
            </a:extLst>
          </p:cNvPr>
          <p:cNvSpPr/>
          <p:nvPr/>
        </p:nvSpPr>
        <p:spPr>
          <a:xfrm>
            <a:off x="960120" y="3154680"/>
            <a:ext cx="237744" cy="237744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Shape 13">
            <a:extLst>
              <a:ext uri="{FF2B5EF4-FFF2-40B4-BE49-F238E27FC236}">
                <a16:creationId xmlns:a16="http://schemas.microsoft.com/office/drawing/2014/main" id="{7F69A009-3BD3-D64C-DAF4-0F3BE3F42FCE}"/>
              </a:ext>
            </a:extLst>
          </p:cNvPr>
          <p:cNvSpPr/>
          <p:nvPr/>
        </p:nvSpPr>
        <p:spPr>
          <a:xfrm>
            <a:off x="1078992" y="3392424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Text 14">
            <a:extLst>
              <a:ext uri="{FF2B5EF4-FFF2-40B4-BE49-F238E27FC236}">
                <a16:creationId xmlns:a16="http://schemas.microsoft.com/office/drawing/2014/main" id="{1AFC2CDB-266D-457A-BBF9-C7E0779E285C}"/>
              </a:ext>
            </a:extLst>
          </p:cNvPr>
          <p:cNvSpPr/>
          <p:nvPr/>
        </p:nvSpPr>
        <p:spPr>
          <a:xfrm>
            <a:off x="1371600" y="30998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15:11</a:t>
            </a:r>
            <a:endParaRPr lang="en-US" sz="1600" dirty="0"/>
          </a:p>
        </p:txBody>
      </p:sp>
      <p:sp>
        <p:nvSpPr>
          <p:cNvPr id="90" name="Text 15">
            <a:extLst>
              <a:ext uri="{FF2B5EF4-FFF2-40B4-BE49-F238E27FC236}">
                <a16:creationId xmlns:a16="http://schemas.microsoft.com/office/drawing/2014/main" id="{B10ED037-3D49-2894-B40C-9189B3A6D290}"/>
              </a:ext>
            </a:extLst>
          </p:cNvPr>
          <p:cNvSpPr/>
          <p:nvPr/>
        </p:nvSpPr>
        <p:spPr>
          <a:xfrm>
            <a:off x="2697480" y="308152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situation générée.</a:t>
            </a:r>
            <a:endParaRPr lang="en-US" sz="1350" dirty="0"/>
          </a:p>
        </p:txBody>
      </p:sp>
      <p:sp>
        <p:nvSpPr>
          <p:cNvPr id="91" name="Text 16">
            <a:extLst>
              <a:ext uri="{FF2B5EF4-FFF2-40B4-BE49-F238E27FC236}">
                <a16:creationId xmlns:a16="http://schemas.microsoft.com/office/drawing/2014/main" id="{A90DBC85-D11B-7AD8-C0BB-EE381DBA4A8B}"/>
              </a:ext>
            </a:extLst>
          </p:cNvPr>
          <p:cNvSpPr/>
          <p:nvPr/>
        </p:nvSpPr>
        <p:spPr>
          <a:xfrm>
            <a:off x="7955280" y="3081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Primo-diffuseur, amplificateurs, narratif, sentiment.</a:t>
            </a:r>
            <a:endParaRPr lang="en-US" sz="1200" dirty="0"/>
          </a:p>
        </p:txBody>
      </p:sp>
      <p:sp>
        <p:nvSpPr>
          <p:cNvPr id="92" name="Shape 17">
            <a:extLst>
              <a:ext uri="{FF2B5EF4-FFF2-40B4-BE49-F238E27FC236}">
                <a16:creationId xmlns:a16="http://schemas.microsoft.com/office/drawing/2014/main" id="{9DFCD358-6F1B-997C-5587-C8DDA6B7AF97}"/>
              </a:ext>
            </a:extLst>
          </p:cNvPr>
          <p:cNvSpPr/>
          <p:nvPr/>
        </p:nvSpPr>
        <p:spPr>
          <a:xfrm>
            <a:off x="960120" y="3904488"/>
            <a:ext cx="237744" cy="237744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Shape 18">
            <a:extLst>
              <a:ext uri="{FF2B5EF4-FFF2-40B4-BE49-F238E27FC236}">
                <a16:creationId xmlns:a16="http://schemas.microsoft.com/office/drawing/2014/main" id="{84B961CF-9CC2-DFD9-D26F-76FBDCF64430}"/>
              </a:ext>
            </a:extLst>
          </p:cNvPr>
          <p:cNvSpPr/>
          <p:nvPr/>
        </p:nvSpPr>
        <p:spPr>
          <a:xfrm>
            <a:off x="1078992" y="4142232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19">
            <a:extLst>
              <a:ext uri="{FF2B5EF4-FFF2-40B4-BE49-F238E27FC236}">
                <a16:creationId xmlns:a16="http://schemas.microsoft.com/office/drawing/2014/main" id="{ABBFC340-D81B-7996-1B8B-D7A2D4724E70}"/>
              </a:ext>
            </a:extLst>
          </p:cNvPr>
          <p:cNvSpPr/>
          <p:nvPr/>
        </p:nvSpPr>
        <p:spPr>
          <a:xfrm>
            <a:off x="1371600" y="384962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15:13</a:t>
            </a:r>
            <a:endParaRPr lang="en-US" sz="1600" dirty="0"/>
          </a:p>
        </p:txBody>
      </p:sp>
      <p:sp>
        <p:nvSpPr>
          <p:cNvPr id="95" name="Text 20">
            <a:extLst>
              <a:ext uri="{FF2B5EF4-FFF2-40B4-BE49-F238E27FC236}">
                <a16:creationId xmlns:a16="http://schemas.microsoft.com/office/drawing/2014/main" id="{7C35F7F4-BE41-95AD-4056-8FB6390AC3DF}"/>
              </a:ext>
            </a:extLst>
          </p:cNvPr>
          <p:cNvSpPr/>
          <p:nvPr/>
        </p:nvSpPr>
        <p:spPr>
          <a:xfrm>
            <a:off x="2697480" y="38313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automatique.</a:t>
            </a:r>
            <a:endParaRPr lang="en-US" sz="1350" dirty="0"/>
          </a:p>
        </p:txBody>
      </p:sp>
      <p:sp>
        <p:nvSpPr>
          <p:cNvPr id="96" name="Text 21">
            <a:extLst>
              <a:ext uri="{FF2B5EF4-FFF2-40B4-BE49-F238E27FC236}">
                <a16:creationId xmlns:a16="http://schemas.microsoft.com/office/drawing/2014/main" id="{F8464295-E14E-C914-E1AD-5A0E19D68A79}"/>
              </a:ext>
            </a:extLst>
          </p:cNvPr>
          <p:cNvSpPr/>
          <p:nvPr/>
        </p:nvSpPr>
        <p:spPr>
          <a:xfrm>
            <a:off x="7955280" y="383133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réel, cadre légal, sources officielles citées.</a:t>
            </a:r>
            <a:endParaRPr lang="en-US" sz="1200" dirty="0"/>
          </a:p>
        </p:txBody>
      </p:sp>
      <p:sp>
        <p:nvSpPr>
          <p:cNvPr id="97" name="Shape 22">
            <a:extLst>
              <a:ext uri="{FF2B5EF4-FFF2-40B4-BE49-F238E27FC236}">
                <a16:creationId xmlns:a16="http://schemas.microsoft.com/office/drawing/2014/main" id="{DA145736-1074-17E5-87AA-3CFC90215BAC}"/>
              </a:ext>
            </a:extLst>
          </p:cNvPr>
          <p:cNvSpPr/>
          <p:nvPr/>
        </p:nvSpPr>
        <p:spPr>
          <a:xfrm>
            <a:off x="960120" y="4654296"/>
            <a:ext cx="237744" cy="237744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Shape 23">
            <a:extLst>
              <a:ext uri="{FF2B5EF4-FFF2-40B4-BE49-F238E27FC236}">
                <a16:creationId xmlns:a16="http://schemas.microsoft.com/office/drawing/2014/main" id="{7FD73D20-DE99-05F5-1E4F-066BB7DAA5AB}"/>
              </a:ext>
            </a:extLst>
          </p:cNvPr>
          <p:cNvSpPr/>
          <p:nvPr/>
        </p:nvSpPr>
        <p:spPr>
          <a:xfrm>
            <a:off x="1078992" y="4892040"/>
            <a:ext cx="0" cy="6949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Text 24">
            <a:extLst>
              <a:ext uri="{FF2B5EF4-FFF2-40B4-BE49-F238E27FC236}">
                <a16:creationId xmlns:a16="http://schemas.microsoft.com/office/drawing/2014/main" id="{86EE85CD-AD79-349A-3075-89F4B0198DED}"/>
              </a:ext>
            </a:extLst>
          </p:cNvPr>
          <p:cNvSpPr/>
          <p:nvPr/>
        </p:nvSpPr>
        <p:spPr>
          <a:xfrm>
            <a:off x="1371600" y="4599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15:15</a:t>
            </a:r>
            <a:endParaRPr lang="en-US" sz="1600" dirty="0"/>
          </a:p>
        </p:txBody>
      </p:sp>
      <p:sp>
        <p:nvSpPr>
          <p:cNvPr id="100" name="Text 25">
            <a:extLst>
              <a:ext uri="{FF2B5EF4-FFF2-40B4-BE49-F238E27FC236}">
                <a16:creationId xmlns:a16="http://schemas.microsoft.com/office/drawing/2014/main" id="{4A656611-3C63-46DE-0914-886222CAB5AC}"/>
              </a:ext>
            </a:extLst>
          </p:cNvPr>
          <p:cNvSpPr/>
          <p:nvPr/>
        </p:nvSpPr>
        <p:spPr>
          <a:xfrm>
            <a:off x="2697480" y="45811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brouillons de riposte proposés.</a:t>
            </a:r>
            <a:endParaRPr lang="en-US" sz="1350" dirty="0"/>
          </a:p>
        </p:txBody>
      </p:sp>
      <p:sp>
        <p:nvSpPr>
          <p:cNvPr id="101" name="Text 26">
            <a:extLst>
              <a:ext uri="{FF2B5EF4-FFF2-40B4-BE49-F238E27FC236}">
                <a16:creationId xmlns:a16="http://schemas.microsoft.com/office/drawing/2014/main" id="{2BF14EF4-EB87-2F40-FEE1-D8B9D2F26B49}"/>
              </a:ext>
            </a:extLst>
          </p:cNvPr>
          <p:cNvSpPr/>
          <p:nvPr/>
        </p:nvSpPr>
        <p:spPr>
          <a:xfrm>
            <a:off x="7955280" y="458114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responsable com relit et ajuste.</a:t>
            </a:r>
            <a:endParaRPr lang="en-US" sz="1200" dirty="0"/>
          </a:p>
        </p:txBody>
      </p:sp>
      <p:sp>
        <p:nvSpPr>
          <p:cNvPr id="102" name="Shape 27">
            <a:extLst>
              <a:ext uri="{FF2B5EF4-FFF2-40B4-BE49-F238E27FC236}">
                <a16:creationId xmlns:a16="http://schemas.microsoft.com/office/drawing/2014/main" id="{53B5F541-872E-79C7-BEC7-9CDCBC6C4ED6}"/>
              </a:ext>
            </a:extLst>
          </p:cNvPr>
          <p:cNvSpPr/>
          <p:nvPr/>
        </p:nvSpPr>
        <p:spPr>
          <a:xfrm>
            <a:off x="960120" y="5404104"/>
            <a:ext cx="237744" cy="237744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Text 28">
            <a:extLst>
              <a:ext uri="{FF2B5EF4-FFF2-40B4-BE49-F238E27FC236}">
                <a16:creationId xmlns:a16="http://schemas.microsoft.com/office/drawing/2014/main" id="{4F9F3423-EB7D-35E4-2FEB-32CCFCF7CAA3}"/>
              </a:ext>
            </a:extLst>
          </p:cNvPr>
          <p:cNvSpPr/>
          <p:nvPr/>
        </p:nvSpPr>
        <p:spPr>
          <a:xfrm>
            <a:off x="1371600" y="5349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15:25</a:t>
            </a:r>
            <a:endParaRPr lang="en-US" sz="1600" dirty="0"/>
          </a:p>
        </p:txBody>
      </p:sp>
      <p:sp>
        <p:nvSpPr>
          <p:cNvPr id="104" name="Text 29">
            <a:extLst>
              <a:ext uri="{FF2B5EF4-FFF2-40B4-BE49-F238E27FC236}">
                <a16:creationId xmlns:a16="http://schemas.microsoft.com/office/drawing/2014/main" id="{7A1222A0-1423-10A1-7674-D48EF19CB423}"/>
              </a:ext>
            </a:extLst>
          </p:cNvPr>
          <p:cNvSpPr/>
          <p:nvPr/>
        </p:nvSpPr>
        <p:spPr>
          <a:xfrm>
            <a:off x="2697480" y="53309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Riposte validée et publiée.</a:t>
            </a:r>
            <a:endParaRPr lang="en-US" sz="1350" dirty="0"/>
          </a:p>
        </p:txBody>
      </p:sp>
      <p:sp>
        <p:nvSpPr>
          <p:cNvPr id="105" name="Text 30">
            <a:extLst>
              <a:ext uri="{FF2B5EF4-FFF2-40B4-BE49-F238E27FC236}">
                <a16:creationId xmlns:a16="http://schemas.microsoft.com/office/drawing/2014/main" id="{3DC224DF-C9D0-D8F1-7A01-48198DD0BF79}"/>
              </a:ext>
            </a:extLst>
          </p:cNvPr>
          <p:cNvSpPr/>
          <p:nvPr/>
        </p:nvSpPr>
        <p:spPr>
          <a:xfrm>
            <a:off x="7955280" y="5330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de feedback mesure l'effet.</a:t>
            </a:r>
            <a:endParaRPr lang="en-US" sz="1200" dirty="0"/>
          </a:p>
        </p:txBody>
      </p:sp>
      <p:sp>
        <p:nvSpPr>
          <p:cNvPr id="106" name="Text 31">
            <a:extLst>
              <a:ext uri="{FF2B5EF4-FFF2-40B4-BE49-F238E27FC236}">
                <a16:creationId xmlns:a16="http://schemas.microsoft.com/office/drawing/2014/main" id="{69337EAE-C6BC-1A7B-F231-1CF18B30868E}"/>
              </a:ext>
            </a:extLst>
          </p:cNvPr>
          <p:cNvSpPr/>
          <p:nvPr/>
        </p:nvSpPr>
        <p:spPr>
          <a:xfrm>
            <a:off x="137160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prend des semaines à comprendre après coup se fait pendant la crise.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265397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2540</TotalTime>
  <Words>1054</Words>
  <Application>Microsoft Office PowerPoint</Application>
  <PresentationFormat>Grand écran</PresentationFormat>
  <Paragraphs>151</Paragraphs>
  <Slides>9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Polémique CNC — Analyse descriptive du corpus</dc:title>
  <dc:subject>PptxGenJS Presentation</dc:subject>
  <dc:creator>Analyse CNC</dc:creator>
  <cp:lastModifiedBy>Damigou BOUNDJA</cp:lastModifiedBy>
  <cp:revision>4</cp:revision>
  <dcterms:created xsi:type="dcterms:W3CDTF">2026-06-24T12:33:26Z</dcterms:created>
  <dcterms:modified xsi:type="dcterms:W3CDTF">2026-06-26T07:18:18Z</dcterms:modified>
</cp:coreProperties>
</file>